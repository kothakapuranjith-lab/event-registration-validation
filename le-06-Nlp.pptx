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8"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178"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0447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https://media.slidesgo.com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https://dayposts.com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https://www.slidemake.com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https://www.gnani.ai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https://0.academia-photos.com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https://www.slidemake.com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https://www.marktechpost.com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https://www.slidemake.com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https://www.slidemake.com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0"/>
            <a:ext cx="8229600" cy="457200"/>
          </a:xfrm>
          <a:prstGeom prst="rect">
            <a:avLst/>
          </a:prstGeom>
          <a:noFill/>
          <a:ln/>
        </p:spPr>
        <p:txBody>
          <a:bodyPr wrap="square" rtlCol="0" anchor="ctr"/>
          <a:lstStyle/>
          <a:p>
            <a:pPr algn="ctr"/>
            <a:r>
              <a:rPr lang="en-US" sz="3000" b="1" dirty="0">
                <a:solidFill>
                  <a:srgbClr val="000000"/>
                </a:solidFill>
                <a:latin typeface="Optima" pitchFamily="34" charset="0"/>
                <a:ea typeface="Optima" pitchFamily="34" charset="-122"/>
                <a:cs typeface="Optima" pitchFamily="34" charset="-120"/>
              </a:rPr>
              <a:t>Issues In Multilingual Syntactic Analysis In NLP</a:t>
            </a:r>
            <a:endParaRPr lang="en-US" sz="3000" dirty="0"/>
          </a:p>
        </p:txBody>
      </p:sp>
      <p:sp>
        <p:nvSpPr>
          <p:cNvPr id="3" name="TextBox 2">
            <a:extLst>
              <a:ext uri="{FF2B5EF4-FFF2-40B4-BE49-F238E27FC236}">
                <a16:creationId xmlns:a16="http://schemas.microsoft.com/office/drawing/2014/main" id="{0DFA816A-4FA2-FD5A-12EF-1F09001934E2}"/>
              </a:ext>
            </a:extLst>
          </p:cNvPr>
          <p:cNvSpPr txBox="1"/>
          <p:nvPr/>
        </p:nvSpPr>
        <p:spPr>
          <a:xfrm>
            <a:off x="806116" y="2743200"/>
            <a:ext cx="3056021" cy="923330"/>
          </a:xfrm>
          <a:prstGeom prst="rect">
            <a:avLst/>
          </a:prstGeom>
          <a:noFill/>
        </p:spPr>
        <p:txBody>
          <a:bodyPr wrap="square" rtlCol="0">
            <a:spAutoFit/>
          </a:bodyPr>
          <a:lstStyle/>
          <a:p>
            <a:r>
              <a:rPr lang="en-IN" dirty="0"/>
              <a:t>K. Ranjith Reddy </a:t>
            </a:r>
            <a:br>
              <a:rPr lang="en-IN" dirty="0"/>
            </a:br>
            <a:r>
              <a:rPr lang="en-IN" dirty="0"/>
              <a:t>247R5A0506</a:t>
            </a:r>
            <a:br>
              <a:rPr lang="en-IN" dirty="0"/>
            </a:br>
            <a:r>
              <a:rPr lang="en-IN" dirty="0"/>
              <a:t>CSE-B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https://search-letsfade-com.herokuapp.com/proxy?url=https://media.slidesgo.com/storage/31968023/responsive-images/2-activities-introduction-to-syntactic-analysis___media_library_original_554_783.jpg"/>
          <p:cNvPicPr>
            <a:picLocks noChangeAspect="1"/>
          </p:cNvPicPr>
          <p:nvPr/>
        </p:nvPicPr>
        <p:blipFill>
          <a:blip r:embed="rId3"/>
          <a:stretch>
            <a:fillRect/>
          </a:stretch>
        </p:blipFill>
        <p:spPr>
          <a:xfrm>
            <a:off x="4572000" y="1143000"/>
            <a:ext cx="4114800" cy="3200400"/>
          </a:xfrm>
          <a:prstGeom prst="rect">
            <a:avLst/>
          </a:prstGeom>
        </p:spPr>
      </p:pic>
      <p:sp>
        <p:nvSpPr>
          <p:cNvPr id="4" name="Text 0"/>
          <p:cNvSpPr/>
          <p:nvPr/>
        </p:nvSpPr>
        <p:spPr>
          <a:xfrm>
            <a:off x="457200" y="228600"/>
            <a:ext cx="8229600" cy="822960"/>
          </a:xfrm>
          <a:prstGeom prst="rect">
            <a:avLst/>
          </a:prstGeom>
          <a:noFill/>
          <a:ln/>
        </p:spPr>
        <p:txBody>
          <a:bodyPr wrap="square" rtlCol="0" anchor="ctr"/>
          <a:lstStyle/>
          <a:p>
            <a:r>
              <a:rPr lang="en-US" sz="2400" b="1" dirty="0">
                <a:solidFill>
                  <a:srgbClr val="000000"/>
                </a:solidFill>
                <a:latin typeface="Optima" pitchFamily="34" charset="0"/>
                <a:ea typeface="Optima" pitchFamily="34" charset="-122"/>
                <a:cs typeface="Optima" pitchFamily="34" charset="-120"/>
              </a:rPr>
              <a:t>Introduction to Multilingual Syntactic Analysis</a:t>
            </a:r>
            <a:endParaRPr lang="en-US" sz="2400" dirty="0"/>
          </a:p>
        </p:txBody>
      </p:sp>
      <p:sp>
        <p:nvSpPr>
          <p:cNvPr id="5" name="Text 1"/>
          <p:cNvSpPr/>
          <p:nvPr/>
        </p:nvSpPr>
        <p:spPr>
          <a:xfrm>
            <a:off x="457200" y="1143000"/>
            <a:ext cx="4114800" cy="3200400"/>
          </a:xfrm>
          <a:prstGeom prst="rect">
            <a:avLst/>
          </a:prstGeom>
          <a:noFill/>
          <a:ln/>
        </p:spPr>
        <p:txBody>
          <a:bodyPr wrap="square" rtlCol="0" anchor="t"/>
          <a:lstStyle/>
          <a:p>
            <a:r>
              <a:rPr lang="en-US" sz="1600" dirty="0">
                <a:solidFill>
                  <a:srgbClr val="000000"/>
                </a:solidFill>
                <a:latin typeface="Optima" pitchFamily="34" charset="0"/>
                <a:ea typeface="Optima" pitchFamily="34" charset="-122"/>
                <a:cs typeface="Optima" pitchFamily="34" charset="-120"/>
              </a:rPr>
              <a:t>Multilingual syntactic analysis aims to understand sentence structure across diverse languages.</a:t>
            </a:r>
            <a:endParaRPr lang="en-US" sz="1600" dirty="0"/>
          </a:p>
          <a:p>
            <a:endParaRPr lang="en-US" sz="1600" dirty="0"/>
          </a:p>
          <a:p>
            <a:r>
              <a:rPr lang="en-US" sz="1600" dirty="0">
                <a:solidFill>
                  <a:srgbClr val="000000"/>
                </a:solidFill>
                <a:latin typeface="Optima" pitchFamily="34" charset="0"/>
                <a:ea typeface="Optima" pitchFamily="34" charset="-122"/>
                <a:cs typeface="Optima" pitchFamily="34" charset="-120"/>
              </a:rPr>
              <a:t>It is essential for multilingual NLP applications such as translation, information extraction, and question answering.</a:t>
            </a:r>
            <a:endParaRPr lang="en-US" sz="1600" dirty="0"/>
          </a:p>
          <a:p>
            <a:endParaRPr lang="en-US" sz="1600" dirty="0"/>
          </a:p>
          <a:p>
            <a:r>
              <a:rPr lang="en-US" sz="1600" dirty="0">
                <a:solidFill>
                  <a:srgbClr val="000000"/>
                </a:solidFill>
                <a:latin typeface="Optima" pitchFamily="34" charset="0"/>
                <a:ea typeface="Optima" pitchFamily="34" charset="-122"/>
                <a:cs typeface="Optima" pitchFamily="34" charset="-120"/>
              </a:rPr>
              <a:t>The diversity of languages presents unique challenges that complicate the development of universal syntactic models.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457200" y="228600"/>
            <a:ext cx="8229600" cy="822960"/>
          </a:xfrm>
          <a:prstGeom prst="rect">
            <a:avLst/>
          </a:prstGeom>
          <a:noFill/>
          <a:ln/>
        </p:spPr>
        <p:txBody>
          <a:bodyPr wrap="square" rtlCol="0" anchor="ctr"/>
          <a:lstStyle/>
          <a:p>
            <a:r>
              <a:rPr lang="en-US" sz="2400" b="1" dirty="0">
                <a:solidFill>
                  <a:srgbClr val="000000"/>
                </a:solidFill>
                <a:latin typeface="Optima" pitchFamily="34" charset="0"/>
                <a:ea typeface="Optima" pitchFamily="34" charset="-122"/>
                <a:cs typeface="Optima" pitchFamily="34" charset="-120"/>
              </a:rPr>
              <a:t>Linguistic Diversity and Its Impact</a:t>
            </a:r>
            <a:endParaRPr lang="en-US" sz="2400" dirty="0"/>
          </a:p>
        </p:txBody>
      </p:sp>
      <p:sp>
        <p:nvSpPr>
          <p:cNvPr id="5" name="Text 1"/>
          <p:cNvSpPr/>
          <p:nvPr/>
        </p:nvSpPr>
        <p:spPr>
          <a:xfrm>
            <a:off x="457200" y="1143000"/>
            <a:ext cx="7489658" cy="3200400"/>
          </a:xfrm>
          <a:prstGeom prst="rect">
            <a:avLst/>
          </a:prstGeom>
          <a:noFill/>
          <a:ln/>
        </p:spPr>
        <p:txBody>
          <a:bodyPr wrap="square" rtlCol="0" anchor="t"/>
          <a:lstStyle/>
          <a:p>
            <a:r>
              <a:rPr lang="en-US" sz="1600" dirty="0">
                <a:solidFill>
                  <a:srgbClr val="000000"/>
                </a:solidFill>
                <a:latin typeface="Optima" pitchFamily="34" charset="0"/>
                <a:ea typeface="Optima" pitchFamily="34" charset="-122"/>
                <a:cs typeface="Optima" pitchFamily="34" charset="-120"/>
              </a:rPr>
              <a:t>Languages vary significantly in syntax, morphology, and word order, affecting analysis approaches.</a:t>
            </a:r>
            <a:endParaRPr lang="en-US" sz="1600" dirty="0"/>
          </a:p>
          <a:p>
            <a:endParaRPr lang="en-US" sz="1600" dirty="0"/>
          </a:p>
          <a:p>
            <a:r>
              <a:rPr lang="en-US" sz="1600" dirty="0">
                <a:solidFill>
                  <a:srgbClr val="000000"/>
                </a:solidFill>
                <a:latin typeface="Optima" pitchFamily="34" charset="0"/>
                <a:ea typeface="Optima" pitchFamily="34" charset="-122"/>
                <a:cs typeface="Optima" pitchFamily="34" charset="-120"/>
              </a:rPr>
              <a:t>Some languages are highly inflected, while others rely more on word order, requiring adaptable parsing techniques.</a:t>
            </a:r>
            <a:endParaRPr lang="en-US" sz="1600" dirty="0"/>
          </a:p>
          <a:p>
            <a:endParaRPr lang="en-US" sz="1600" dirty="0"/>
          </a:p>
          <a:p>
            <a:r>
              <a:rPr lang="en-US" sz="1600" dirty="0">
                <a:solidFill>
                  <a:srgbClr val="000000"/>
                </a:solidFill>
                <a:latin typeface="Optima" pitchFamily="34" charset="0"/>
                <a:ea typeface="Optima" pitchFamily="34" charset="-122"/>
                <a:cs typeface="Optima" pitchFamily="34" charset="-120"/>
              </a:rPr>
              <a:t>This diversity makes it difficult to create one-size-fits-all syntactic parsers that perform equally well across languages.</a:t>
            </a:r>
            <a:br>
              <a:rPr lang="en-US" sz="1600" dirty="0">
                <a:solidFill>
                  <a:srgbClr val="000000"/>
                </a:solidFill>
                <a:latin typeface="Optima" pitchFamily="34" charset="0"/>
                <a:ea typeface="Optima" pitchFamily="34" charset="-122"/>
                <a:cs typeface="Optima" pitchFamily="34" charset="-120"/>
              </a:rPr>
            </a:br>
            <a:br>
              <a:rPr lang="en-US" sz="1600" dirty="0">
                <a:solidFill>
                  <a:srgbClr val="000000"/>
                </a:solidFill>
                <a:latin typeface="Optima" pitchFamily="34" charset="0"/>
                <a:ea typeface="Optima" pitchFamily="34" charset="-122"/>
                <a:cs typeface="Optima" pitchFamily="34" charset="-120"/>
              </a:rPr>
            </a:br>
            <a:r>
              <a:rPr lang="en-US" sz="1600" dirty="0">
                <a:latin typeface="Optima"/>
              </a:rPr>
              <a:t>Turkish is highly inflected: “</a:t>
            </a:r>
            <a:r>
              <a:rPr lang="en-US" sz="1600" dirty="0" err="1">
                <a:latin typeface="Optima"/>
              </a:rPr>
              <a:t>Evlerimizden</a:t>
            </a:r>
            <a:r>
              <a:rPr lang="en-US" sz="1600" dirty="0">
                <a:latin typeface="Optima"/>
              </a:rPr>
              <a:t>” means “from our houses,” where the root word “</a:t>
            </a:r>
            <a:r>
              <a:rPr lang="en-US" sz="1600" dirty="0" err="1">
                <a:latin typeface="Optima"/>
              </a:rPr>
              <a:t>ev</a:t>
            </a:r>
            <a:r>
              <a:rPr lang="en-US" sz="1600" dirty="0">
                <a:latin typeface="Optima"/>
              </a:rPr>
              <a:t>” (house) gets multiple suffixes for plurality, possession, and case.</a:t>
            </a:r>
          </a:p>
          <a:p>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457200" y="228600"/>
            <a:ext cx="8229600" cy="822960"/>
          </a:xfrm>
          <a:prstGeom prst="rect">
            <a:avLst/>
          </a:prstGeom>
          <a:noFill/>
          <a:ln/>
        </p:spPr>
        <p:txBody>
          <a:bodyPr wrap="square" rtlCol="0" anchor="ctr"/>
          <a:lstStyle/>
          <a:p>
            <a:r>
              <a:rPr lang="en-US" sz="2400" b="1" dirty="0">
                <a:solidFill>
                  <a:srgbClr val="000000"/>
                </a:solidFill>
                <a:latin typeface="Optima" pitchFamily="34" charset="0"/>
                <a:ea typeface="Optima" pitchFamily="34" charset="-122"/>
                <a:cs typeface="Optima" pitchFamily="34" charset="-120"/>
              </a:rPr>
              <a:t>Data Scarcity for Low-Resource Languages</a:t>
            </a:r>
            <a:endParaRPr lang="en-US" sz="2400" dirty="0"/>
          </a:p>
        </p:txBody>
      </p:sp>
      <p:sp>
        <p:nvSpPr>
          <p:cNvPr id="5" name="Text 1"/>
          <p:cNvSpPr/>
          <p:nvPr/>
        </p:nvSpPr>
        <p:spPr>
          <a:xfrm>
            <a:off x="457199" y="1143000"/>
            <a:ext cx="7976937" cy="3200400"/>
          </a:xfrm>
          <a:prstGeom prst="rect">
            <a:avLst/>
          </a:prstGeom>
          <a:noFill/>
          <a:ln/>
        </p:spPr>
        <p:txBody>
          <a:bodyPr wrap="square" rtlCol="0" anchor="t"/>
          <a:lstStyle/>
          <a:p>
            <a:r>
              <a:rPr lang="en-US" sz="1600" dirty="0">
                <a:solidFill>
                  <a:srgbClr val="000000"/>
                </a:solidFill>
                <a:latin typeface="Optima" pitchFamily="34" charset="0"/>
                <a:ea typeface="Optima" pitchFamily="34" charset="-122"/>
                <a:cs typeface="Optima" pitchFamily="34" charset="-120"/>
              </a:rPr>
              <a:t>Many languages lack large annotated corpora needed for training effective syntactic parsers.</a:t>
            </a:r>
            <a:endParaRPr lang="en-US" sz="1600" dirty="0"/>
          </a:p>
          <a:p>
            <a:endParaRPr lang="en-US" sz="1600" dirty="0"/>
          </a:p>
          <a:p>
            <a:r>
              <a:rPr lang="en-US" sz="1600" dirty="0">
                <a:solidFill>
                  <a:srgbClr val="000000"/>
                </a:solidFill>
                <a:latin typeface="Optima" pitchFamily="34" charset="0"/>
                <a:ea typeface="Optima" pitchFamily="34" charset="-122"/>
                <a:cs typeface="Optima" pitchFamily="34" charset="-120"/>
              </a:rPr>
              <a:t>The scarcity of data impedes the development of robust models for underrepresented languages.</a:t>
            </a:r>
            <a:endParaRPr lang="en-US" sz="1600" dirty="0"/>
          </a:p>
          <a:p>
            <a:endParaRPr lang="en-US" sz="1600" dirty="0"/>
          </a:p>
          <a:p>
            <a:r>
              <a:rPr lang="en-US" sz="1600" dirty="0">
                <a:solidFill>
                  <a:srgbClr val="000000"/>
                </a:solidFill>
                <a:latin typeface="Optima" pitchFamily="34" charset="0"/>
                <a:ea typeface="Optima" pitchFamily="34" charset="-122"/>
                <a:cs typeface="Optima" pitchFamily="34" charset="-120"/>
              </a:rPr>
              <a:t>Transfer learning and multilingual models are promising but still face limitations in low-resource settings.</a:t>
            </a:r>
            <a:br>
              <a:rPr lang="en-US" sz="1600" dirty="0">
                <a:solidFill>
                  <a:srgbClr val="000000"/>
                </a:solidFill>
                <a:latin typeface="Optima" pitchFamily="34" charset="0"/>
                <a:ea typeface="Optima" pitchFamily="34" charset="-122"/>
                <a:cs typeface="Optima" pitchFamily="34" charset="-120"/>
              </a:rPr>
            </a:br>
            <a:br>
              <a:rPr lang="en-US" sz="1600" dirty="0">
                <a:solidFill>
                  <a:srgbClr val="000000"/>
                </a:solidFill>
                <a:latin typeface="Optima" pitchFamily="34" charset="0"/>
                <a:ea typeface="Optima" pitchFamily="34" charset="-122"/>
                <a:cs typeface="Optima" pitchFamily="34" charset="-120"/>
              </a:rPr>
            </a:br>
            <a:r>
              <a:rPr lang="en-US" sz="1600" dirty="0">
                <a:latin typeface="Optima"/>
                <a:ea typeface="Optima"/>
              </a:rPr>
              <a:t>The Universal Dependencies project offers thousands of annotated sentences for English but very few for endangered African languages. Training robust syntactic parsers for Yoruba, for instance, is difficult due to limited annotated 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https://search-letsfade-com.herokuapp.com/proxy?url=https://www.gnani.ai/wp-content/uploads/2022/07/Semantic-Analysis-Syntactic-Analysis.jpg"/>
          <p:cNvPicPr>
            <a:picLocks noChangeAspect="1"/>
          </p:cNvPicPr>
          <p:nvPr/>
        </p:nvPicPr>
        <p:blipFill>
          <a:blip r:embed="rId3"/>
          <a:stretch>
            <a:fillRect/>
          </a:stretch>
        </p:blipFill>
        <p:spPr>
          <a:xfrm>
            <a:off x="4572000" y="1143000"/>
            <a:ext cx="4114800" cy="3200400"/>
          </a:xfrm>
          <a:prstGeom prst="rect">
            <a:avLst/>
          </a:prstGeom>
        </p:spPr>
      </p:pic>
      <p:sp>
        <p:nvSpPr>
          <p:cNvPr id="4" name="Text 0"/>
          <p:cNvSpPr/>
          <p:nvPr/>
        </p:nvSpPr>
        <p:spPr>
          <a:xfrm>
            <a:off x="457200" y="228600"/>
            <a:ext cx="8229600" cy="822960"/>
          </a:xfrm>
          <a:prstGeom prst="rect">
            <a:avLst/>
          </a:prstGeom>
          <a:noFill/>
          <a:ln/>
        </p:spPr>
        <p:txBody>
          <a:bodyPr wrap="square" rtlCol="0" anchor="ctr"/>
          <a:lstStyle/>
          <a:p>
            <a:r>
              <a:rPr lang="en-US" sz="2400" b="1" dirty="0">
                <a:solidFill>
                  <a:srgbClr val="000000"/>
                </a:solidFill>
                <a:latin typeface="Optima" pitchFamily="34" charset="0"/>
                <a:ea typeface="Optima" pitchFamily="34" charset="-122"/>
                <a:cs typeface="Optima" pitchFamily="34" charset="-120"/>
              </a:rPr>
              <a:t>Annotation Schemes and Standardization</a:t>
            </a:r>
            <a:endParaRPr lang="en-US" sz="2400" dirty="0"/>
          </a:p>
        </p:txBody>
      </p:sp>
      <p:sp>
        <p:nvSpPr>
          <p:cNvPr id="5" name="Text 1"/>
          <p:cNvSpPr/>
          <p:nvPr/>
        </p:nvSpPr>
        <p:spPr>
          <a:xfrm>
            <a:off x="457200" y="1143000"/>
            <a:ext cx="4114800" cy="3200400"/>
          </a:xfrm>
          <a:prstGeom prst="rect">
            <a:avLst/>
          </a:prstGeom>
          <a:noFill/>
          <a:ln/>
        </p:spPr>
        <p:txBody>
          <a:bodyPr wrap="square" rtlCol="0" anchor="t"/>
          <a:lstStyle/>
          <a:p>
            <a:r>
              <a:rPr lang="en-US" sz="1600" dirty="0">
                <a:solidFill>
                  <a:srgbClr val="000000"/>
                </a:solidFill>
                <a:latin typeface="Optima" pitchFamily="34" charset="0"/>
                <a:ea typeface="Optima" pitchFamily="34" charset="-122"/>
                <a:cs typeface="Optima" pitchFamily="34" charset="-120"/>
              </a:rPr>
              <a:t>Different languages often use different syntactic annotation schemes, complicating cross-lingual analysis.</a:t>
            </a:r>
            <a:endParaRPr lang="en-US" sz="1600" dirty="0"/>
          </a:p>
          <a:p>
            <a:endParaRPr lang="en-US" sz="1600" dirty="0"/>
          </a:p>
          <a:p>
            <a:r>
              <a:rPr lang="en-US" sz="1600" dirty="0">
                <a:solidFill>
                  <a:srgbClr val="000000"/>
                </a:solidFill>
                <a:latin typeface="Optima" pitchFamily="34" charset="0"/>
                <a:ea typeface="Optima" pitchFamily="34" charset="-122"/>
                <a:cs typeface="Optima" pitchFamily="34" charset="-120"/>
              </a:rPr>
              <a:t>Lack of standardized, universal annotation frameworks hampers the development of multilingual parsers.</a:t>
            </a:r>
            <a:endParaRPr lang="en-US" sz="1600" dirty="0"/>
          </a:p>
          <a:p>
            <a:endParaRPr lang="en-US" sz="1600" dirty="0"/>
          </a:p>
          <a:p>
            <a:r>
              <a:rPr lang="en-US" sz="1600" dirty="0">
                <a:solidFill>
                  <a:srgbClr val="000000"/>
                </a:solidFill>
                <a:latin typeface="Optima" pitchFamily="34" charset="0"/>
                <a:ea typeface="Optima" pitchFamily="34" charset="-122"/>
                <a:cs typeface="Optima" pitchFamily="34" charset="-120"/>
              </a:rPr>
              <a:t>Efforts like Universal Dependencies aim to address this, but inconsistencies still exist across datasets.</a:t>
            </a:r>
            <a:br>
              <a:rPr lang="en-US" sz="1600" dirty="0">
                <a:solidFill>
                  <a:srgbClr val="000000"/>
                </a:solidFill>
                <a:latin typeface="Optima" pitchFamily="34" charset="0"/>
                <a:ea typeface="Optima" pitchFamily="34" charset="-122"/>
                <a:cs typeface="Optima" pitchFamily="34" charset="-120"/>
              </a:rPr>
            </a:br>
            <a:br>
              <a:rPr lang="en-US" sz="1600" dirty="0">
                <a:solidFill>
                  <a:srgbClr val="000000"/>
                </a:solidFill>
                <a:latin typeface="Optima" pitchFamily="34" charset="0"/>
                <a:ea typeface="Optima" pitchFamily="34" charset="-122"/>
                <a:cs typeface="Optima" pitchFamily="34" charset="-120"/>
              </a:rPr>
            </a:br>
            <a:r>
              <a:rPr lang="en-US" sz="1600" dirty="0">
                <a:latin typeface="Optima"/>
              </a:rPr>
              <a:t>English treebanks often use the Penn Treebank style, while French or Arabic treebanks might use different conventions.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https://search-letsfade-com.herokuapp.com/proxy?url=https://0.academia-photos.com/attachment_thumbnails/93298838/mini_magick20221030-1-xcnz1b.png?1667110358"/>
          <p:cNvPicPr>
            <a:picLocks noChangeAspect="1"/>
          </p:cNvPicPr>
          <p:nvPr/>
        </p:nvPicPr>
        <p:blipFill>
          <a:blip r:embed="rId3"/>
          <a:stretch>
            <a:fillRect/>
          </a:stretch>
        </p:blipFill>
        <p:spPr>
          <a:xfrm>
            <a:off x="4572000" y="1143000"/>
            <a:ext cx="4114800" cy="3200400"/>
          </a:xfrm>
          <a:prstGeom prst="rect">
            <a:avLst/>
          </a:prstGeom>
        </p:spPr>
      </p:pic>
      <p:sp>
        <p:nvSpPr>
          <p:cNvPr id="4" name="Text 0"/>
          <p:cNvSpPr/>
          <p:nvPr/>
        </p:nvSpPr>
        <p:spPr>
          <a:xfrm>
            <a:off x="457200" y="228600"/>
            <a:ext cx="8229600" cy="822960"/>
          </a:xfrm>
          <a:prstGeom prst="rect">
            <a:avLst/>
          </a:prstGeom>
          <a:noFill/>
          <a:ln/>
        </p:spPr>
        <p:txBody>
          <a:bodyPr wrap="square" rtlCol="0" anchor="ctr"/>
          <a:lstStyle/>
          <a:p>
            <a:r>
              <a:rPr lang="en-US" sz="2400" b="1" dirty="0">
                <a:solidFill>
                  <a:srgbClr val="000000"/>
                </a:solidFill>
                <a:latin typeface="Optima" pitchFamily="34" charset="0"/>
                <a:ea typeface="Optima" pitchFamily="34" charset="-122"/>
                <a:cs typeface="Optima" pitchFamily="34" charset="-120"/>
              </a:rPr>
              <a:t>Morphological Complexity and Its Challenges</a:t>
            </a:r>
            <a:endParaRPr lang="en-US" sz="2400" dirty="0"/>
          </a:p>
        </p:txBody>
      </p:sp>
      <p:sp>
        <p:nvSpPr>
          <p:cNvPr id="5" name="Text 1"/>
          <p:cNvSpPr/>
          <p:nvPr/>
        </p:nvSpPr>
        <p:spPr>
          <a:xfrm>
            <a:off x="457200" y="1143000"/>
            <a:ext cx="4114800" cy="3200400"/>
          </a:xfrm>
          <a:prstGeom prst="rect">
            <a:avLst/>
          </a:prstGeom>
          <a:noFill/>
          <a:ln/>
        </p:spPr>
        <p:txBody>
          <a:bodyPr wrap="square" rtlCol="0" anchor="t"/>
          <a:lstStyle/>
          <a:p>
            <a:r>
              <a:rPr lang="en-US" sz="1600" dirty="0">
                <a:solidFill>
                  <a:srgbClr val="000000"/>
                </a:solidFill>
                <a:latin typeface="Optima" pitchFamily="34" charset="0"/>
                <a:ea typeface="Optima" pitchFamily="34" charset="-122"/>
                <a:cs typeface="Optima" pitchFamily="34" charset="-120"/>
              </a:rPr>
              <a:t>Morphologically rich languages present complex word forms that challenge syntactic analysis.</a:t>
            </a:r>
            <a:endParaRPr lang="en-US" sz="1600" dirty="0"/>
          </a:p>
          <a:p>
            <a:endParaRPr lang="en-US" sz="1600" dirty="0"/>
          </a:p>
          <a:p>
            <a:r>
              <a:rPr lang="en-US" sz="1600" dirty="0">
                <a:solidFill>
                  <a:srgbClr val="000000"/>
                </a:solidFill>
                <a:latin typeface="Optima" pitchFamily="34" charset="0"/>
                <a:ea typeface="Optima" pitchFamily="34" charset="-122"/>
                <a:cs typeface="Optima" pitchFamily="34" charset="-120"/>
              </a:rPr>
              <a:t>Failing to account for morphology can lead to incorrect parsing and misinterpretation of syntactic relations.</a:t>
            </a:r>
            <a:endParaRPr lang="en-US" sz="1600" dirty="0"/>
          </a:p>
          <a:p>
            <a:endParaRPr lang="en-US" sz="1600" dirty="0"/>
          </a:p>
          <a:p>
            <a:r>
              <a:rPr lang="en-US" sz="1600" dirty="0">
                <a:solidFill>
                  <a:srgbClr val="000000"/>
                </a:solidFill>
                <a:latin typeface="Optima" pitchFamily="34" charset="0"/>
                <a:ea typeface="Optima" pitchFamily="34" charset="-122"/>
                <a:cs typeface="Optima" pitchFamily="34" charset="-120"/>
              </a:rPr>
              <a:t>Accurate morphological analysis is often a prerequisite for effective syntactic parsing in such languages.</a:t>
            </a:r>
            <a:br>
              <a:rPr lang="en-US" sz="1600" dirty="0">
                <a:solidFill>
                  <a:srgbClr val="000000"/>
                </a:solidFill>
                <a:latin typeface="Optima" pitchFamily="34" charset="0"/>
                <a:ea typeface="Optima" pitchFamily="34" charset="-122"/>
                <a:cs typeface="Optima" pitchFamily="34" charset="-120"/>
              </a:rPr>
            </a:br>
            <a:br>
              <a:rPr lang="en-US" sz="1600" dirty="0">
                <a:solidFill>
                  <a:srgbClr val="000000"/>
                </a:solidFill>
                <a:latin typeface="Optima" pitchFamily="34" charset="0"/>
                <a:ea typeface="Optima" pitchFamily="34" charset="-122"/>
                <a:cs typeface="Optima" pitchFamily="34" charset="-120"/>
              </a:rPr>
            </a:br>
            <a:r>
              <a:rPr lang="en-US" sz="1600" dirty="0">
                <a:latin typeface="Optima"/>
              </a:rPr>
              <a:t>In Finnish, the word “</a:t>
            </a:r>
            <a:r>
              <a:rPr lang="en-US" sz="1600" dirty="0" err="1">
                <a:latin typeface="Optima"/>
              </a:rPr>
              <a:t>taloissanikinko</a:t>
            </a:r>
            <a:r>
              <a:rPr lang="en-US" sz="1600" dirty="0">
                <a:latin typeface="Optima"/>
              </a:rPr>
              <a:t>” means “even in my houses?” with several suffixes attached.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457200" y="228600"/>
            <a:ext cx="8229600" cy="822960"/>
          </a:xfrm>
          <a:prstGeom prst="rect">
            <a:avLst/>
          </a:prstGeom>
          <a:noFill/>
          <a:ln/>
        </p:spPr>
        <p:txBody>
          <a:bodyPr wrap="square" rtlCol="0" anchor="ctr"/>
          <a:lstStyle/>
          <a:p>
            <a:r>
              <a:rPr lang="en-US" sz="2400" b="1" dirty="0">
                <a:solidFill>
                  <a:srgbClr val="000000"/>
                </a:solidFill>
                <a:latin typeface="Optima" pitchFamily="34" charset="0"/>
                <a:ea typeface="Optima" pitchFamily="34" charset="-122"/>
                <a:cs typeface="Optima" pitchFamily="34" charset="-120"/>
              </a:rPr>
              <a:t>Word Order Variability and Syntactic Ambiguity</a:t>
            </a:r>
            <a:endParaRPr lang="en-US" sz="2400" dirty="0"/>
          </a:p>
        </p:txBody>
      </p:sp>
      <p:sp>
        <p:nvSpPr>
          <p:cNvPr id="5" name="Text 1"/>
          <p:cNvSpPr/>
          <p:nvPr/>
        </p:nvSpPr>
        <p:spPr>
          <a:xfrm>
            <a:off x="457199" y="1143000"/>
            <a:ext cx="6665495" cy="3200400"/>
          </a:xfrm>
          <a:prstGeom prst="rect">
            <a:avLst/>
          </a:prstGeom>
          <a:noFill/>
          <a:ln/>
        </p:spPr>
        <p:txBody>
          <a:bodyPr wrap="square" rtlCol="0" anchor="t"/>
          <a:lstStyle/>
          <a:p>
            <a:r>
              <a:rPr lang="en-US" sz="1600" dirty="0">
                <a:solidFill>
                  <a:srgbClr val="000000"/>
                </a:solidFill>
                <a:latin typeface="Optima" pitchFamily="34" charset="0"/>
                <a:ea typeface="Optima" pitchFamily="34" charset="-122"/>
                <a:cs typeface="Optima" pitchFamily="34" charset="-120"/>
              </a:rPr>
              <a:t>Languages with flexible or free word order introduce ambiguity into syntactic analysis.</a:t>
            </a:r>
            <a:endParaRPr lang="en-US" sz="1600" dirty="0"/>
          </a:p>
          <a:p>
            <a:endParaRPr lang="en-US" sz="1600" dirty="0"/>
          </a:p>
          <a:p>
            <a:r>
              <a:rPr lang="en-US" sz="1600" dirty="0">
                <a:solidFill>
                  <a:srgbClr val="000000"/>
                </a:solidFill>
                <a:latin typeface="Optima" pitchFamily="34" charset="0"/>
                <a:ea typeface="Optima" pitchFamily="34" charset="-122"/>
                <a:cs typeface="Optima" pitchFamily="34" charset="-120"/>
              </a:rPr>
              <a:t>Parsing models must handle multiple possible structures, increasing computational complexity.</a:t>
            </a:r>
            <a:endParaRPr lang="en-US" sz="1600" dirty="0"/>
          </a:p>
          <a:p>
            <a:endParaRPr lang="en-US" sz="1600" dirty="0"/>
          </a:p>
          <a:p>
            <a:r>
              <a:rPr lang="en-US" sz="1600" dirty="0">
                <a:solidFill>
                  <a:srgbClr val="000000"/>
                </a:solidFill>
                <a:latin typeface="Optima" pitchFamily="34" charset="0"/>
                <a:ea typeface="Optima" pitchFamily="34" charset="-122"/>
                <a:cs typeface="Optima" pitchFamily="34" charset="-120"/>
              </a:rPr>
              <a:t>Contextual cues and semantic information are often needed to resolve ambiguities effectively.</a:t>
            </a:r>
            <a:br>
              <a:rPr lang="en-US" sz="1600" dirty="0">
                <a:solidFill>
                  <a:srgbClr val="000000"/>
                </a:solidFill>
                <a:latin typeface="Optima" pitchFamily="34" charset="0"/>
                <a:ea typeface="Optima" pitchFamily="34" charset="-122"/>
                <a:cs typeface="Optima" pitchFamily="34" charset="-120"/>
              </a:rPr>
            </a:br>
            <a:br>
              <a:rPr lang="en-US" sz="1600" dirty="0">
                <a:solidFill>
                  <a:srgbClr val="000000"/>
                </a:solidFill>
                <a:latin typeface="Optima" pitchFamily="34" charset="0"/>
                <a:ea typeface="Optima" pitchFamily="34" charset="-122"/>
                <a:cs typeface="Optima" pitchFamily="34" charset="-120"/>
              </a:rPr>
            </a:br>
            <a:r>
              <a:rPr lang="en-US" dirty="0"/>
              <a:t>In Russian, “Bob gave Alice a book” could be written “Bob dal Alice </a:t>
            </a:r>
            <a:r>
              <a:rPr lang="en-US" dirty="0" err="1"/>
              <a:t>knigu</a:t>
            </a:r>
            <a:r>
              <a:rPr lang="en-US" dirty="0"/>
              <a:t>,” “</a:t>
            </a:r>
            <a:r>
              <a:rPr lang="en-US" dirty="0" err="1"/>
              <a:t>Knigu</a:t>
            </a:r>
            <a:r>
              <a:rPr lang="en-US" dirty="0"/>
              <a:t> dal Bob Alice,”.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https://search-letsfade-com.herokuapp.com/proxy?url=https://www.marktechpost.com/wp-content/uploads/2024/04/Screenshot-2024-04-19-at-6.56.20-PM-1024x707.png"/>
          <p:cNvPicPr>
            <a:picLocks noChangeAspect="1"/>
          </p:cNvPicPr>
          <p:nvPr/>
        </p:nvPicPr>
        <p:blipFill>
          <a:blip r:embed="rId3"/>
          <a:stretch>
            <a:fillRect/>
          </a:stretch>
        </p:blipFill>
        <p:spPr>
          <a:xfrm>
            <a:off x="4572000" y="1143000"/>
            <a:ext cx="4114800" cy="3200400"/>
          </a:xfrm>
          <a:prstGeom prst="rect">
            <a:avLst/>
          </a:prstGeom>
        </p:spPr>
      </p:pic>
      <p:sp>
        <p:nvSpPr>
          <p:cNvPr id="4" name="Text 0"/>
          <p:cNvSpPr/>
          <p:nvPr/>
        </p:nvSpPr>
        <p:spPr>
          <a:xfrm>
            <a:off x="457200" y="228600"/>
            <a:ext cx="8229600" cy="822960"/>
          </a:xfrm>
          <a:prstGeom prst="rect">
            <a:avLst/>
          </a:prstGeom>
          <a:noFill/>
          <a:ln/>
        </p:spPr>
        <p:txBody>
          <a:bodyPr wrap="square" rtlCol="0" anchor="ctr"/>
          <a:lstStyle/>
          <a:p>
            <a:r>
              <a:rPr lang="en-US" sz="2400" b="1" dirty="0">
                <a:solidFill>
                  <a:srgbClr val="000000"/>
                </a:solidFill>
                <a:latin typeface="Optima" pitchFamily="34" charset="0"/>
                <a:ea typeface="Optima" pitchFamily="34" charset="-122"/>
                <a:cs typeface="Optima" pitchFamily="34" charset="-120"/>
              </a:rPr>
              <a:t>Cross-Lingual Transfer and Model Generalization</a:t>
            </a:r>
            <a:endParaRPr lang="en-US" sz="2400" dirty="0"/>
          </a:p>
        </p:txBody>
      </p:sp>
      <p:sp>
        <p:nvSpPr>
          <p:cNvPr id="5" name="Text 1"/>
          <p:cNvSpPr/>
          <p:nvPr/>
        </p:nvSpPr>
        <p:spPr>
          <a:xfrm>
            <a:off x="457200" y="1143000"/>
            <a:ext cx="4114800" cy="3200400"/>
          </a:xfrm>
          <a:prstGeom prst="rect">
            <a:avLst/>
          </a:prstGeom>
          <a:noFill/>
          <a:ln/>
        </p:spPr>
        <p:txBody>
          <a:bodyPr wrap="square" rtlCol="0" anchor="t"/>
          <a:lstStyle/>
          <a:p>
            <a:r>
              <a:rPr lang="en-US" sz="1600" dirty="0">
                <a:solidFill>
                  <a:srgbClr val="000000"/>
                </a:solidFill>
                <a:latin typeface="Optima" pitchFamily="34" charset="0"/>
                <a:ea typeface="Optima" pitchFamily="34" charset="-122"/>
                <a:cs typeface="Optima" pitchFamily="34" charset="-120"/>
              </a:rPr>
              <a:t>Leveraging models trained on high-resource languages for low-resource languages is a common strategy.</a:t>
            </a:r>
            <a:endParaRPr lang="en-US" sz="1600" dirty="0"/>
          </a:p>
          <a:p>
            <a:endParaRPr lang="en-US" sz="1600" dirty="0"/>
          </a:p>
          <a:p>
            <a:r>
              <a:rPr lang="en-US" sz="1600" dirty="0">
                <a:solidFill>
                  <a:srgbClr val="000000"/>
                </a:solidFill>
                <a:latin typeface="Optima" pitchFamily="34" charset="0"/>
                <a:ea typeface="Optima" pitchFamily="34" charset="-122"/>
                <a:cs typeface="Optima" pitchFamily="34" charset="-120"/>
              </a:rPr>
              <a:t>However, structural differences can limit the effectiveness of transfer learning approaches.</a:t>
            </a:r>
            <a:endParaRPr lang="en-US" sz="1600" dirty="0"/>
          </a:p>
          <a:p>
            <a:endParaRPr lang="en-US" sz="1600" dirty="0"/>
          </a:p>
          <a:p>
            <a:r>
              <a:rPr lang="en-US" sz="1600" dirty="0">
                <a:solidFill>
                  <a:srgbClr val="000000"/>
                </a:solidFill>
                <a:latin typeface="Optima" pitchFamily="34" charset="0"/>
                <a:ea typeface="Optima" pitchFamily="34" charset="-122"/>
                <a:cs typeface="Optima" pitchFamily="34" charset="-120"/>
              </a:rPr>
              <a:t>Ensuring models generalize well across languages remains an ongoing research challenge.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457200" y="228600"/>
            <a:ext cx="8229600" cy="822960"/>
          </a:xfrm>
          <a:prstGeom prst="rect">
            <a:avLst/>
          </a:prstGeom>
          <a:noFill/>
          <a:ln/>
        </p:spPr>
        <p:txBody>
          <a:bodyPr wrap="square" rtlCol="0" anchor="ctr"/>
          <a:lstStyle/>
          <a:p>
            <a:r>
              <a:rPr lang="en-US" sz="2400" b="1" dirty="0">
                <a:solidFill>
                  <a:srgbClr val="000000"/>
                </a:solidFill>
                <a:latin typeface="Optima" pitchFamily="34" charset="0"/>
                <a:ea typeface="Optima" pitchFamily="34" charset="-122"/>
                <a:cs typeface="Optima" pitchFamily="34" charset="-120"/>
              </a:rPr>
              <a:t>Handling Multiword Expressions and Idioms</a:t>
            </a:r>
            <a:endParaRPr lang="en-US" sz="2400" dirty="0"/>
          </a:p>
        </p:txBody>
      </p:sp>
      <p:sp>
        <p:nvSpPr>
          <p:cNvPr id="5" name="Text 1"/>
          <p:cNvSpPr/>
          <p:nvPr/>
        </p:nvSpPr>
        <p:spPr>
          <a:xfrm>
            <a:off x="457200" y="1143000"/>
            <a:ext cx="6864016" cy="3200400"/>
          </a:xfrm>
          <a:prstGeom prst="rect">
            <a:avLst/>
          </a:prstGeom>
          <a:noFill/>
          <a:ln/>
        </p:spPr>
        <p:txBody>
          <a:bodyPr wrap="square" rtlCol="0" anchor="t"/>
          <a:lstStyle/>
          <a:p>
            <a:r>
              <a:rPr lang="en-US" sz="1600" dirty="0">
                <a:solidFill>
                  <a:srgbClr val="000000"/>
                </a:solidFill>
                <a:latin typeface="Optima" pitchFamily="34" charset="0"/>
                <a:ea typeface="Optima" pitchFamily="34" charset="-122"/>
                <a:cs typeface="Optima" pitchFamily="34" charset="-120"/>
              </a:rPr>
              <a:t>Multiword expressions often do not conform to standard syntactic rules, complicating analysis.</a:t>
            </a:r>
            <a:endParaRPr lang="en-US" sz="1600" dirty="0"/>
          </a:p>
          <a:p>
            <a:endParaRPr lang="en-US" sz="1600" dirty="0"/>
          </a:p>
          <a:p>
            <a:r>
              <a:rPr lang="en-US" sz="1600" dirty="0">
                <a:solidFill>
                  <a:srgbClr val="000000"/>
                </a:solidFill>
                <a:latin typeface="Optima" pitchFamily="34" charset="0"/>
                <a:ea typeface="Optima" pitchFamily="34" charset="-122"/>
                <a:cs typeface="Optima" pitchFamily="34" charset="-120"/>
              </a:rPr>
              <a:t>Idiomatic expressions require models to understand context beyond surface structure.</a:t>
            </a:r>
            <a:endParaRPr lang="en-US" sz="1600" dirty="0"/>
          </a:p>
          <a:p>
            <a:endParaRPr lang="en-US" sz="1600" dirty="0"/>
          </a:p>
          <a:p>
            <a:r>
              <a:rPr lang="en-US" sz="1600" dirty="0">
                <a:solidFill>
                  <a:srgbClr val="000000"/>
                </a:solidFill>
                <a:latin typeface="Optima" pitchFamily="34" charset="0"/>
                <a:ea typeface="Optima" pitchFamily="34" charset="-122"/>
                <a:cs typeface="Optima" pitchFamily="34" charset="-120"/>
              </a:rPr>
              <a:t>Properly modeling these expressions is critical for accurate syntactic parsing and downstream tasks.</a:t>
            </a:r>
            <a:br>
              <a:rPr lang="en-US" sz="1600" dirty="0">
                <a:solidFill>
                  <a:srgbClr val="000000"/>
                </a:solidFill>
                <a:latin typeface="Optima" pitchFamily="34" charset="0"/>
                <a:ea typeface="Optima" pitchFamily="34" charset="-122"/>
                <a:cs typeface="Optima" pitchFamily="34" charset="-120"/>
              </a:rPr>
            </a:br>
            <a:br>
              <a:rPr lang="en-US" sz="1600" dirty="0">
                <a:solidFill>
                  <a:srgbClr val="000000"/>
                </a:solidFill>
                <a:latin typeface="Optima" pitchFamily="34" charset="0"/>
                <a:ea typeface="Optima" pitchFamily="34" charset="-122"/>
                <a:cs typeface="Optima" pitchFamily="34" charset="-120"/>
              </a:rPr>
            </a:br>
            <a:r>
              <a:rPr lang="en-US" sz="1600" dirty="0">
                <a:latin typeface="Optima"/>
                <a:ea typeface="Optima"/>
              </a:rPr>
              <a:t>English phrase “kick the bucket” means “to die” (not literally to kick a bucket). Idioms like this can confuse models that analyze sentences word by word.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457200" y="228600"/>
            <a:ext cx="8229600" cy="822960"/>
          </a:xfrm>
          <a:prstGeom prst="rect">
            <a:avLst/>
          </a:prstGeom>
          <a:noFill/>
          <a:ln/>
        </p:spPr>
        <p:txBody>
          <a:bodyPr wrap="square" rtlCol="0" anchor="ctr"/>
          <a:lstStyle/>
          <a:p>
            <a:r>
              <a:rPr lang="en-US" sz="2400" b="1" dirty="0">
                <a:solidFill>
                  <a:srgbClr val="000000"/>
                </a:solidFill>
                <a:latin typeface="Optima" pitchFamily="34" charset="0"/>
                <a:ea typeface="Optima" pitchFamily="34" charset="-122"/>
                <a:cs typeface="Optima" pitchFamily="34" charset="-120"/>
              </a:rPr>
              <a:t>Conclusion</a:t>
            </a:r>
            <a:endParaRPr lang="en-US" sz="2400" dirty="0"/>
          </a:p>
        </p:txBody>
      </p:sp>
      <p:sp>
        <p:nvSpPr>
          <p:cNvPr id="5" name="Text 1"/>
          <p:cNvSpPr/>
          <p:nvPr/>
        </p:nvSpPr>
        <p:spPr>
          <a:xfrm>
            <a:off x="457199" y="1143000"/>
            <a:ext cx="7339263" cy="3200400"/>
          </a:xfrm>
          <a:prstGeom prst="rect">
            <a:avLst/>
          </a:prstGeom>
          <a:noFill/>
          <a:ln/>
        </p:spPr>
        <p:txBody>
          <a:bodyPr wrap="square" rtlCol="0" anchor="t"/>
          <a:lstStyle/>
          <a:p>
            <a:r>
              <a:rPr lang="en-US" sz="1600" dirty="0">
                <a:solidFill>
                  <a:srgbClr val="000000"/>
                </a:solidFill>
                <a:latin typeface="Optima" pitchFamily="34" charset="0"/>
                <a:ea typeface="Optima" pitchFamily="34" charset="-122"/>
                <a:cs typeface="Optima" pitchFamily="34" charset="-120"/>
              </a:rPr>
              <a:t>Addressing issues in multilingual syntactic analysis is vital for the advancement of NLP applications globally.</a:t>
            </a:r>
            <a:endParaRPr lang="en-US" sz="1600" dirty="0"/>
          </a:p>
          <a:p>
            <a:endParaRPr lang="en-US" sz="1600" dirty="0"/>
          </a:p>
          <a:p>
            <a:r>
              <a:rPr lang="en-US" sz="1600" dirty="0">
                <a:solidFill>
                  <a:srgbClr val="000000"/>
                </a:solidFill>
                <a:latin typeface="Optima" pitchFamily="34" charset="0"/>
                <a:ea typeface="Optima" pitchFamily="34" charset="-122"/>
                <a:cs typeface="Optima" pitchFamily="34" charset="-120"/>
              </a:rPr>
              <a:t>Continued research is needed to overcome linguistic, data, and computational challenges.</a:t>
            </a:r>
            <a:endParaRPr lang="en-US" sz="1600" dirty="0"/>
          </a:p>
          <a:p>
            <a:endParaRPr lang="en-US" sz="1600" dirty="0"/>
          </a:p>
          <a:p>
            <a:r>
              <a:rPr lang="en-US" sz="1600" dirty="0">
                <a:solidFill>
                  <a:srgbClr val="000000"/>
                </a:solidFill>
                <a:latin typeface="Optima" pitchFamily="34" charset="0"/>
                <a:ea typeface="Optima" pitchFamily="34" charset="-122"/>
                <a:cs typeface="Optima" pitchFamily="34" charset="-120"/>
              </a:rPr>
              <a:t>Collaboration across linguistic and computational disciplines will drive progress toward more inclusive NLP systems.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721</Words>
  <Application>Microsoft Office PowerPoint</Application>
  <PresentationFormat>On-screen Show (16:9)</PresentationFormat>
  <Paragraphs>75</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Optima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SlideMake.com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Issues In Multilingual Syntactic Analysis In NLP</dc:title>
  <dc:subject>Issues In Multilingual Syntactic Analysis In NLP</dc:subject>
  <dc:creator>SlideMake.com</dc:creator>
  <cp:lastModifiedBy>Ranjith Reddy</cp:lastModifiedBy>
  <cp:revision>3</cp:revision>
  <dcterms:created xsi:type="dcterms:W3CDTF">2025-08-13T14:05:36Z</dcterms:created>
  <dcterms:modified xsi:type="dcterms:W3CDTF">2025-08-22T01:30:42Z</dcterms:modified>
</cp:coreProperties>
</file>